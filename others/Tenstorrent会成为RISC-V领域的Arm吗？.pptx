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各位好，这是我们今天的演示目录。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将分为六个部分进行深入探讨：首先是公司的基本概况和核心人物介绍，让大家对我们的团队和背景有一个基础的认识；接着是产品矩阵的概览，展示我们多元化的业务布局；第三部分将深度解析我们的IP业务，这是我们核心竞争力的重要组成部分；第四部分聚焦硬件业务与架构，体现我们的技术硬实力；第五部分是未来的技术路线图，展望我们的技术演进方向；最后，我们将对整体业务进行总结，并对未来的发展进行展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让我们开始第一部分的介绍。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各位好，这一页我们来概览一下Tenstorrent的发展与布局。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公司成立于2016年，起源于加拿大，在2023年年底，为了更好地连接全球科创资源，我们将总部迁至了美国加州硅谷。从成立之初，我们就专注于AI计算，推出了首款核心芯片Grayskull，这成为了我们算力的基石。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我们的定位非常明确：做RISC-V时代的全栈计算方案提供商。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在业务版图上，我们不仅仅做AI算力芯片，还提供高性能的RISC-V CPU IP核，以及从芯片到系统的整体IP方案。同时，我们深知软件的重要性，因此构建了兼容主流框架的全栈软件生态，确保硬件的能力能够被充分释放。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这一页我们来认识一位半导体行业的传奇人物——Jim Keller。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他被誉为“传奇硅仙人”，是一位真正的架构鬼才。他在2021年加入了AI芯片公司Tenstorrent，从CTO一路做到CEO，正在用他的智慧重塑AI算力的未来。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他的履历非常辉煌，曾在Intel、Tesla、AMD等科技巨头担任要职，甚至他创立的P.A. Semi后来被苹果收购，成为了苹果自研芯片的基石。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他主导设计的芯片更是家喻户晓：从DEC Alpha，到让AMD起死回生的Zen系列架构，再到苹果的A4、A5芯片，以及特斯拉的自动驾驶芯片。每一款都可以说是改变行业的经典之作。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Jim Keller的设计哲学是“化繁为简”，他总能用最精简的设计实现极致的性能，这也是他被称为行业技术重塑者的原因。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各位好，这一页我们来概览一下公司的产品矩阵。我们构建了“硬件+IP+软件”三位一体的产品生态。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首先是硬件业务，这是我们算力的物理基础，包括基于自研Wormhole和Blackhole芯片的AI加速板卡，以及灵活的塔式和机架式服务器，满足从边缘到中心的多样化部署需求。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中间是我们的核心IP业务，基于RISC-V架构，提供从CPU内核到系统级IP、再到AI专用加速IP的全套解决方案，这是我们实现自主可控的关键。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最后是软件生态，我们不仅仅提供硬件，更注重软硬协同，通过深度优化的内核、完善的开发工具链以及开源的大模型生态，帮助开发者和合作伙伴快速释放算力潜能。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这三大板块相辅相成，共同构成了我们坚实的算力底座。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这一页展示了我们公司在IP业务领域的全景布局。我们目前已经GA的IP产品覆盖了从计算、系统控制到智能处理和高速互联的四大关键领域。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首先是高性能计算领域的Ascalon CPU IP，它是我们面向数据中心的旗舰产品，为云端提供强大的算力支持。其次是System IP，包括IOMMU和APLIC，它们是保障系统安全和高效运行的基础。在智能计算方面，我们的Tensix AI IP专为边缘侧设计，能够高效支持各类AI模型的部署。最后是我们通过战略收购获得的Blue Cheetah D2D互联IP，它为Chiplet架构提供了关键的高速互联能力。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未来，我们将重点聚焦于三个战略方向：夯实数据中心的高性能算力基座、推动车规级智能芯核的发展，以及构建基于Chiplet的异构计算生态。这些将是我们持续创新和增长的核心驱动力。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这一页展示了我们未来的产品技术路线图。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2025到2026年，这是我们的核心落地阶段。我们不仅有已经正式发布的Ascalon通用CPU作为算力基石，还针对汽车、AI、数据中心等关键场景推出了专用产品，如Alexandria汽车CPU和Babylon数据中心CPU，同时构建完整的异构计算平台和开发生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展望2027到2028年，我们将迎来性能的巨大飞跃，推出旗舰产品Callandor CPU。它采用了突破性的16路宽解码架构，SPECint性能达到35分，IPC性能更是达到了Cortex-A76的三倍，将为未来的高性能计算和智能应用提供前所未有的算力支持。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这一页我们重点介绍Ascalon，这是一款专为数据中心设计的高性能RISC-V处理器核心。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首先，Ascalon的最大特点是其高度的可配置性。它支持从2-wide到8-wide的多种超标量配置，这意味着它可以灵活地适应从边缘计算到云端超算的各种场景，在性能和能效之间找到最佳平衡点。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在指令集方面，Ascalon严格遵循RISC-V的RVA23应用级规范，并集成了RVV1.0 256位的向量处理单元。这对于需要大量并行计算的AI推理、科学计算和大数据分析任务来说，提供了原生的硬件加速能力。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我们来看具体的产品型号：TT-Ascalon-S是一款4-wide的主流效能型产品，非常适合云原生通用计算和边缘云节点；而TT-Ascalon-X则是8-wide的旗舰性能型，专为高吞吐、高并发的数据中心负载设计。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微架构设计上，Ascalon达到了行业领先水平。它采用了双TAGE分支预测器，确保了极高的预测精度。配合8-wide的解码器和6个ALU执行单元，其架构宽度可以媲美苹果的M1芯片，这保证了它能最大限度地挖掘指令级并行，释放强大的算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各位好，这一页我们聚焦于Ascalon系列的性能对标。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大家可以看到屏幕中央的柱状图，这是SPECint2006每GHz的性能对比，这是衡量CPU架构效率的关键指标。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首先是Ascalon-S，它的每GHz性能达到了14分，这一水平对标了业界知名的Arm Neoverse N1架构，非常适合对能效比有极高要求的边缘计算场景。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而更高端的Ascalon-X，每GHz性能突破了21分，这已经非常接近Arm最新的Neoverse V3旗舰架构的水平，展现了极强的单线程计算能力，完全满足数据中心和高性能计算的需求。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这里需要强调的是，我们对比的是每GHz的性能，这代表了纯粹的架构设计效率。这两款产品充分证明了我们在微架构设计上的深厚积累。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各位好，这一页我们来深入了解一下Tenstorrent的车规级处理器——Alexandria。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从产品定位上来看，Alexandria不仅仅是一款处理器，它是Tenstorrent进军汽车电子市场的战略级产品。我们有一个非常独特的设计理念，就是将机器人视为“紧凑型的智能汽车”，这意味着它需要同样高的安全性、可靠性和算力支持。因此，Alexandria是连接智能驾驶、车路协同以及复杂机器人控制的算力桥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在右侧，大家可以看到它的三大核心技术亮点：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第一，它基于高性能的8核Ascalon X架构构建，这保证了它在提供强大算力的同时，还能兼顾能效比，非常适合对功耗敏感的车载环境。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第二，它通过了严格的车规级安全认证，达到了ASIL B/D的安全等级，这是功能安全的高标准要求，确保了系统的容错能力。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第三，它内置了Dual Core Lock Step，也就是双核锁步机制。这是一种硬件级的冗余设计，能够实时监控并纠正运算中的偏差，这对于自动驾驶这种对安全性零容忍的场景来说，是至关重要的保障。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总的来说，Alexandria从底层架构上就为智能出行筑牢了安全与算力的基石。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这一页我们来深入了解Atlantis这个开放计算平台。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为什么需要Atlantis？因为在RISC-V阵营中，长期以来缺乏一个高性能的开发平台，这成为了制约其发展的瓶颈。Atlantis的出现正是为了填补这一空白，它的定位非常清晰，就是对标Arm的SDP（软件开发者平台），为RISC-V生态提供标准化的高性能底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这个平台在2025年9月正式官宣，由AI芯片领域的领军者Tenstorrent与半导体新锐CoreLab联合开发，这是一次技术与资源的强强联手。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它的应用场景非常聚焦，主要面向机器人自主控制和智能汽车的边缘计算，这两个领域对算力的实时性、异构计算能力都有着极高的要求。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最后，不得不提的是CoreLab的董事长Allen Wu，也就是吴雄昂先生，他曾担任Arm中国的CEO，拥有深厚的行业积累和全球化视野。他的加入，为Atlantis平台的成功奠定了坚实的基础。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各位好，这一页我们来深入了解Callandor下一代超大核心的核心架构与优势。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在核心规格上，它做到了极致的宽度：16-wide的解码宽度配合1KB的ROB窗口，为指令级并行提供了巨大的挖掘空间；同时配备了8个高性能ALU和6-wide的加载存储单元，确保了数据的高速吞吐。特别值得一提的是，它还集成了专用的Matrix Engine，这为AI向量计算提供了原生的硬件加速能力。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在架构创新方面，我们引入了专用的uop Cache，这极大地降低了前端的延迟；而最核心的创新在于采用了Cluster簇状结构，将整型执行单元分为两个6×ALU的Cluster，这种设计打破了传统的集中式布局。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这种设计带来了显著的优势：它不仅降低了Register File的设计复杂度，还因为缩短了内部信号走线，更容易突破主频的瓶颈，这对于提升单核性能至关重要。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最终，我们的目标非常明确：实现单线程性能达到35 SPECint2006/GHz的行业标杆水平，这将重新定义处理器的单核性能上限。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这一页我们来深入解析Blackhole AI加速芯片的硬件架构。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大家可以看到，这是一款专为AI大模型设计的异构计算架构，主要由四大核心模块组成：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首先是Tensix Cores，这是芯片的计算心脏，针对Transformer架构进行了深度优化，提供了海量的算力支持。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其次是DRAM Cores，它负责解决“内存墙”问题，通过定制化的GDDR6控制器，保证了数据的高速吞吐。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第三部分是ETH Cores，它让单颗芯片不再是孤岛，支持高效的集群互联。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最后是强大的RISC-V主控集群，包含了16个高性能核心和700多个轻量级核心，实现了极其灵活的任务调度。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在底层架构上，我们采用了2D Mesh片上网络，确保了数据传输的低延迟和高带宽。同时，在存储方案上，我们选择了GDDR6而非HBM，这并不是为了妥协，而是为了追求极致的性价比，让AI算力的部署成本更低，更具商业竞争力。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这一页我们深入探讨Blackhole的数据流与计算范式。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首先看上方的计算流程，这是一个高度并行且可控的流水线：从GDDR的数据加载开始，就有专用的小RISC-V内核负责搬运，确保数据源源不断地供给。接着，数据被分发到Tensix Cores的L1 SRAM中，这里是真正的计算战场。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在核心计算阶段，由3个RISC-V内核驱动AI计算引擎，专门处理矩阵乘加等关键运算。计算完成后，结果通过片上网络（NoC）被高效聚合，最后由ETH Core负责与外界的高速网络交互。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这种架构最大的特点在于它采用了MIMD（多指令多数据）范式，基于本地L1 SRAM进行计算，没有传统GPU的Cache层级，因此延迟是完全确定的，这对于实时性要求高的应用至关重要。相比之下，传统的Nvidia GPU依赖于SIMT架构和庞大的Cache层级，虽然算力强，但在能效比和实时确定性上存在天然的局限。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各位，这页PPT总结了我们对Tenstorrent的核心判断。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首先看左侧的优势，它具备成为“RISC-V领域Arm”的基因：成熟的IP授权模式、顶尖的CPU性能、精准的蓝海赛道布局以及全栈的技术协同能力。这些都是其快速崛起的坚实基础。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当然，我们也不能忽视右侧的挑战：RISC-V的软件生态成熟需要时间，AI架构需要进一步创新以适应通用需求，同时片间互联技术也需要突破。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最后，我们的结论是：假以时日，经过几轮迭代，叠加行业趋势，Tenstorrent极有可能成为RISC-V时代的领军者。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感谢大家的聆听。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今天我们探讨了关于 AI 芯片架构的前沿技术，特别是 Tenstorrent 与 CoreLab 的最新进展。这些内容主要参考了 Tenstorrent 的官方技术文档、2024 年 Hot Chips 峰会的公开资料以及 CoreLab 的官方公告。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希望今天的分享能为大家带来启发。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notesSlides/notesSlide3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notesSlides/notesSlide6.xml" Type="http://schemas.openxmlformats.org/officeDocument/2006/relationships/notesSlid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notesSlides/notesSlide7.xml" Type="http://schemas.openxmlformats.org/officeDocument/2006/relationships/notesSlid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notesSlides/notesSlide8.xml" Type="http://schemas.openxmlformats.org/officeDocument/2006/relationships/notesSlide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2.png" Type="http://schemas.openxmlformats.org/officeDocument/2006/relationships/image"/><Relationship Id="rId3" Target="../media/image73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svg" Type="http://schemas.openxmlformats.org/officeDocument/2006/relationships/image"/><Relationship Id="rId12" Target="../notesSlides/notesSlide11.xml" Type="http://schemas.openxmlformats.org/officeDocument/2006/relationships/notesSlide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80.png" Type="http://schemas.openxmlformats.org/officeDocument/2006/relationships/image"/><Relationship Id="rId5" Target="../media/image81.svg" Type="http://schemas.openxmlformats.org/officeDocument/2006/relationships/image"/><Relationship Id="rId6" Target="../media/image82.png" Type="http://schemas.openxmlformats.org/officeDocument/2006/relationships/image"/><Relationship Id="rId7" Target="../media/image83.svg" Type="http://schemas.openxmlformats.org/officeDocument/2006/relationships/image"/><Relationship Id="rId8" Target="../media/image84.png" Type="http://schemas.openxmlformats.org/officeDocument/2006/relationships/image"/><Relationship Id="rId9" Target="../media/image8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90.png" Type="http://schemas.openxmlformats.org/officeDocument/2006/relationships/image"/><Relationship Id="rId5" Target="../media/image91.svg" Type="http://schemas.openxmlformats.org/officeDocument/2006/relationships/image"/><Relationship Id="rId6" Target="../media/image92.png" Type="http://schemas.openxmlformats.org/officeDocument/2006/relationships/image"/><Relationship Id="rId7" Target="../media/image93.svg" Type="http://schemas.openxmlformats.org/officeDocument/2006/relationships/image"/><Relationship Id="rId8" Target="../media/image94.png" Type="http://schemas.openxmlformats.org/officeDocument/2006/relationships/image"/><Relationship Id="rId9" Target="../media/image9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svg" Type="http://schemas.openxmlformats.org/officeDocument/2006/relationships/image"/><Relationship Id="rId12" Target="../media/image106.png" Type="http://schemas.openxmlformats.org/officeDocument/2006/relationships/image"/><Relationship Id="rId13" Target="../media/image107.svg" Type="http://schemas.openxmlformats.org/officeDocument/2006/relationships/image"/><Relationship Id="rId14" Target="../notesSlides/notesSlide13.xml" Type="http://schemas.openxmlformats.org/officeDocument/2006/relationships/notesSlide"/><Relationship Id="rId2" Target="../media/image96.png" Type="http://schemas.openxmlformats.org/officeDocument/2006/relationships/image"/><Relationship Id="rId3" Target="../media/image97.svg" Type="http://schemas.openxmlformats.org/officeDocument/2006/relationships/image"/><Relationship Id="rId4" Target="../media/image98.png" Type="http://schemas.openxmlformats.org/officeDocument/2006/relationships/image"/><Relationship Id="rId5" Target="../media/image99.svg" Type="http://schemas.openxmlformats.org/officeDocument/2006/relationships/image"/><Relationship Id="rId6" Target="../media/image100.png" Type="http://schemas.openxmlformats.org/officeDocument/2006/relationships/image"/><Relationship Id="rId7" Target="../media/image101.svg" Type="http://schemas.openxmlformats.org/officeDocument/2006/relationships/image"/><Relationship Id="rId8" Target="../media/image102.png" Type="http://schemas.openxmlformats.org/officeDocument/2006/relationships/image"/><Relationship Id="rId9" Target="../media/image10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2.png" Type="http://schemas.openxmlformats.org/officeDocument/2006/relationships/image"/><Relationship Id="rId11" Target="../media/image113.svg" Type="http://schemas.openxmlformats.org/officeDocument/2006/relationships/image"/><Relationship Id="rId12" Target="../notesSlides/notesSlide14.xml" Type="http://schemas.openxmlformats.org/officeDocument/2006/relationships/notesSlide"/><Relationship Id="rId2" Target="../media/image108.png" Type="http://schemas.openxmlformats.org/officeDocument/2006/relationships/image"/><Relationship Id="rId3" Target="../media/image109.sv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Relationship Id="rId8" Target="../media/image110.png" Type="http://schemas.openxmlformats.org/officeDocument/2006/relationships/image"/><Relationship Id="rId9" Target="../media/image1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4.png" Type="http://schemas.openxmlformats.org/officeDocument/2006/relationships/image"/><Relationship Id="rId3" Target="../media/image115.svg" Type="http://schemas.openxmlformats.org/officeDocument/2006/relationships/image"/><Relationship Id="rId4" Target="../media/image116.png" Type="http://schemas.openxmlformats.org/officeDocument/2006/relationships/image"/><Relationship Id="rId5" Target="../media/image117.svg" Type="http://schemas.openxmlformats.org/officeDocument/2006/relationships/image"/><Relationship Id="rId6" Target="../media/image118.png" Type="http://schemas.openxmlformats.org/officeDocument/2006/relationships/image"/><Relationship Id="rId7" Target="../media/image119.svg" Type="http://schemas.openxmlformats.org/officeDocument/2006/relationships/image"/><Relationship Id="rId8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0.png" Type="http://schemas.openxmlformats.org/officeDocument/2006/relationships/image"/><Relationship Id="rId3" Target="../media/image121.svg" Type="http://schemas.openxmlformats.org/officeDocument/2006/relationships/image"/><Relationship Id="rId4" Target="../media/image122.png" Type="http://schemas.openxmlformats.org/officeDocument/2006/relationships/image"/><Relationship Id="rId5" Target="../media/image123.svg" Type="http://schemas.openxmlformats.org/officeDocument/2006/relationships/image"/><Relationship Id="rId6" Target="../media/image124.png" Type="http://schemas.openxmlformats.org/officeDocument/2006/relationships/image"/><Relationship Id="rId7" Target="../media/image125.svg" Type="http://schemas.openxmlformats.org/officeDocument/2006/relationships/image"/><Relationship Id="rId8" Target="../notesSlides/notesSlide16.xml" Type="http://schemas.openxmlformats.org/officeDocument/2006/relationships/notesSlide"/><Relationship Id="rId9" Target="../media/image1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1212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016000" y="1524000"/>
            <a:ext cx="5080000" cy="5080000"/>
          </a:xfrm>
          <a:prstGeom prst="ellipse">
            <a:avLst/>
          </a:prstGeom>
          <a:solidFill>
            <a:srgbClr val="EA580C">
              <a:alpha val="8000"/>
            </a:srgbClr>
          </a:solidFill>
          <a:ln cmpd="sng" cap="flat">
            <a:solidFill>
              <a:srgbClr val="D147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032000" y="762000"/>
            <a:ext cx="2286000" cy="2286000"/>
          </a:xfrm>
          <a:prstGeom prst="ellipse">
            <a:avLst/>
          </a:prstGeom>
          <a:solidFill>
            <a:srgbClr val="EA580C">
              <a:alpha val="12000"/>
            </a:srgbClr>
          </a:solidFill>
          <a:ln cmpd="sng" cap="flat">
            <a:solidFill>
              <a:srgbClr val="D1470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191000"/>
            <a:ext cx="1778000" cy="1778000"/>
          </a:xfrm>
          <a:prstGeom prst="hexagon">
            <a:avLst/>
          </a:prstGeom>
          <a:solidFill>
            <a:srgbClr val="EA580C">
              <a:alpha val="20000"/>
            </a:srgbClr>
          </a:solidFill>
          <a:ln w="12700" cmpd="sng" cap="flat">
            <a:solidFill>
              <a:srgbClr val="EA580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-5468745" flipH="false" flipV="false">
            <a:off x="1587500" y="3867087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" id="6"/>
          <p:cNvCxnSpPr/>
          <p:nvPr/>
        </p:nvCxnSpPr>
        <p:spPr>
          <a:xfrm rot="10714074" flipH="false" flipV="false">
            <a:off x="507921" y="507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81000" y="1778000"/>
            <a:ext cx="203200" cy="203200"/>
          </a:xfrm>
          <a:prstGeom prst="roundRect">
            <a:avLst>
              <a:gd name="adj" fmla="val 0"/>
            </a:avLst>
          </a:prstGeom>
          <a:solidFill>
            <a:srgbClr val="EA580C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" y="2286000"/>
            <a:ext cx="203200" cy="2032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2794000"/>
            <a:ext cx="203200" cy="2032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937000" y="2286000"/>
            <a:ext cx="736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Tenstorrent会成为RISC-V领域的Arm吗？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937000" y="4127500"/>
            <a:ext cx="736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EA580C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RISC-V高性能处理器与AI加速深度分析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5588000"/>
            <a:ext cx="10414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584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3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处理器杂谈 · 2026年1月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B2B2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EB4D3D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EB4D3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778000"/>
            <a:ext cx="52832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" y="20066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B4D3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50892" flipH="false" flipV="false">
            <a:off x="1460500" y="24066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082800" y="19304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公司概况与核心人物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聚焦企业发展历程，解析核心管理团队的战略视野与行业积淀，奠定发展基石。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3302000"/>
            <a:ext cx="52832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" y="35306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B4D3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50892" flipH="false" flipV="false">
            <a:off x="1460500" y="39306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2082800" y="34544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产品矩阵概览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全景式展示多元化产品布局，剖析各产品线的市场定位、核心优势及用户价值。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4826000"/>
            <a:ext cx="52832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" y="50546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B4D3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50892" flipH="false" flipV="false">
            <a:off x="1460500" y="54546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2082800" y="49784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IP业务深度解析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挖掘IP生态的价值内核，详解品牌授权、内容衍生的商业逻辑与长期增长潜力。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99200" y="1778000"/>
            <a:ext cx="52832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02400" y="20066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B4D3D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350892" flipH="false" flipV="false">
            <a:off x="7150100" y="24066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772400" y="19304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硬件业务与架构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解析硬件产品的底层技术架构与制造工艺，展示硬核科技支撑下的产品创新实力。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99200" y="3302000"/>
            <a:ext cx="52832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02400" y="35306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B4D3D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5350892" flipH="false" flipV="false">
            <a:off x="7150100" y="39306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7772400" y="34544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展望未来三年技术演进方向，布局前沿研发规划与可持续的技术迭代发展路径。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99200" y="4826000"/>
            <a:ext cx="52832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02400" y="50546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B4D3D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5350892" flipH="false" flipV="false">
            <a:off x="7150100" y="54546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7772400" y="49784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复盘年度核心成果与关键数据，擘画未来市场蓝图与战略增长的全新机遇。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B2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3810000"/>
            <a:ext cx="5080000" cy="5080000"/>
          </a:xfrm>
          <a:prstGeom prst="ellipse">
            <a:avLst/>
          </a:prstGeom>
          <a:solidFill>
            <a:srgbClr val="E64A19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-1270000"/>
            <a:ext cx="3810000" cy="3810000"/>
          </a:xfrm>
          <a:prstGeom prst="ellipse">
            <a:avLst/>
          </a:prstGeom>
          <a:solidFill>
            <a:srgbClr val="E64A19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公司概况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8910" flipH="false" flipV="false">
            <a:off x="-1079500" y="3803660"/>
            <a:ext cx="393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64A19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968500"/>
            <a:ext cx="152400" cy="152400"/>
          </a:xfrm>
          <a:prstGeom prst="ellipse">
            <a:avLst/>
          </a:prstGeom>
          <a:solidFill>
            <a:srgbClr val="E64A1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1905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1879600"/>
            <a:ext cx="393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  <a:t>2016 · 加拿大起源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在加拿大正式成立，聚焦人工智能计算硬件的前沿探索，以创新架构开启AI算力芯片的研发征程，奠定硬核技术基因。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2984500"/>
            <a:ext cx="152400" cy="152400"/>
          </a:xfrm>
          <a:prstGeom prst="ellipse">
            <a:avLst/>
          </a:prstGeom>
          <a:solidFill>
            <a:srgbClr val="E64A1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2921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2895600"/>
            <a:ext cx="393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  <a:t>2023 · 硅谷全球总部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年底将全球总部迁至美国加州硅谷，依托全球科创中心的人才与资本优势，加速技术迭代与全球化商业布局。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4000500"/>
            <a:ext cx="152400" cy="152400"/>
          </a:xfrm>
          <a:prstGeom prst="ellipse">
            <a:avLst/>
          </a:prstGeom>
          <a:solidFill>
            <a:srgbClr val="E64A1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143000" y="3937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3911600"/>
            <a:ext cx="393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  <a:t>Grayskull · 算力基石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推出首款核心芯片Grayskull，深度优化机器学习训练与推理性能，成为AI算力芯片自主创新的重要里程碑。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5016500"/>
            <a:ext cx="152400" cy="152400"/>
          </a:xfrm>
          <a:prstGeom prst="ellipse">
            <a:avLst/>
          </a:prstGeom>
          <a:solidFill>
            <a:srgbClr val="E64A1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143000" y="4953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4927600"/>
            <a:ext cx="393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  <a:t>全栈 · RISC-V 计算引领者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定位于RISC-V时代的全栈计算方案提供商，打通“芯片架构+IP核+系统方案+软件生态”的全链路价值闭环。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1651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E64A1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286500" y="18415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31000" y="1841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算力芯片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2349500"/>
            <a:ext cx="2413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专为大模型训练与推理设计，突破传统架构瓶颈，提供领先的算力密度与能效比，赋能云端及边缘智能计算场景。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953500" y="1651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E64A1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144000" y="18415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588500" y="1841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RISC-V CPU IP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144000" y="2349500"/>
            <a:ext cx="2413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基于开源RISC-V架构打造的高性能处理器IP核，具备高度可定制性与扩展性，完美适配异构计算与多元化场景。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0" y="3937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E64A1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286500" y="4127500"/>
            <a:ext cx="355600" cy="3556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731000" y="4127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系统级 IP 方案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86500" y="4635500"/>
            <a:ext cx="2413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提供从芯片设计到硬件板卡的一站式系统级IP与参考设计，大幅缩短研发周期，助力客户快速实现产品量产落地。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953500" y="3937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E64A1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9144000" y="4127500"/>
            <a:ext cx="355600" cy="3556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9588500" y="4127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全栈软件生态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144000" y="4635500"/>
            <a:ext cx="2413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构建兼容PyTorch、TensorFlow等主流框架的软件栈，覆盖编译器、运行时环境及开发工具，降低部署门槛。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3810000" cy="381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4445000"/>
            <a:ext cx="3175000" cy="3175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传奇硅仙人 — Jim Keller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524000"/>
            <a:ext cx="109728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1676400"/>
            <a:ext cx="10464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半导体行业的「架构鬼才」与传奇工程师，深耕微处理器设计领域四十余年。2021年初加入AI芯片独角兽Tenstorrent担任CTO与总裁，2023年初正式出任CEO，凭借其标志性的“化繁为简”设计哲学，持续在AI算力架构领域掀起颠覆性创新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2921000"/>
            <a:ext cx="3454400" cy="2921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mpd="sng" cap="flat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63600" y="31496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20800" y="3149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跨界巨头掌舵者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63600" y="3683000"/>
            <a:ext cx="2946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历任Intel硅工程高级副总裁、Tesla自动驾驶硬件副总裁、AMD核心架构首席。曾执掌P.A. Semi工程团队（后被苹果收购），职业生涯横跨消费电子、汽车智能、云计算与前沿AI芯片四大硬核领域。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68800" y="2921000"/>
            <a:ext cx="3454400" cy="2921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12700" cmpd="sng" cap="flat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22800" y="31496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080000" y="3149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定义算力的架构传奇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22800" y="3683000"/>
            <a:ext cx="2946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主导设计了DEC Alpha、AMD K7/K8（开启x86多核时代）及Zen系列（AMD复兴的基石）。参与打造的Apple A4/A5芯片定义了初代移动智能终端性能；为Tesla设计的自动驾驶芯片成为FSD算力的核心心脏。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921000"/>
            <a:ext cx="3454400" cy="29210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12700" cmpd="sng" cap="flat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31496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839200" y="3149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技术重塑与行业标杆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2000" y="3683000"/>
            <a:ext cx="2946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以“极简高效”的设计哲学著称，擅长挖掘架构潜力。他不仅是技术的缔造者，更是行业格局的改变者，从让AMD起死回生到赋能特斯拉自动驾驶，每一次出场都为行业带来突破性的技术跃升与产业变革。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" y="60960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“在半导体的星河中，他始终是那颗最耀眼的「架构之星」，持续为算力创新注入无限可能。”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32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0" y="-1270000"/>
            <a:ext cx="5080000" cy="5080000"/>
          </a:xfrm>
          <a:prstGeom prst="ellipse">
            <a:avLst/>
          </a:prstGeom>
          <a:solidFill>
            <a:srgbClr val="EA580C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EA580C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产品矩阵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1778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2095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0955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01 硬件业务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323" flipH="false" flipV="false">
            <a:off x="889013" y="272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89000" y="292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打造从端侧推理到云端训练的全场景算力底座，提供高性能、高可靠的硬件基础设施支撑。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937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AI加速板卡：Wormhole/Blackhole PCIe系列，极致能效比与低延迟特性</a:t>
            </a: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整机方案：塔式/机架式服务器，灵活适配边缘与中心机房部署</a:t>
            </a: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集群系统：高密度算力集群设计，满足大规模并行计算需求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1778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1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095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080000" y="20955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02 IP业务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323" flipH="false" flipV="false">
            <a:off x="4572013" y="272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572000" y="292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基于RISC-V架构的自主可控核心IP集群，为芯片设计提供灵活、可扩展的底层架构基石。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3937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核心内核：高性能RISC-V CPU IP，支持多核心异构与定制化扩展</a:t>
            </a: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系统集成：System IP与Chiplet技术，大幅降低芯片设计门槛与周期</a:t>
            </a: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智能加速：AI Tensix IP核，专为神经网络推理与训练场景深度优化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1778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01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095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763000" y="20955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03 软件生态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323" flipH="false" flipV="false">
            <a:off x="8255013" y="272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255000" y="292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构建软硬协同的全栈式软件生态，提供从底层驱动到上层应用的完整开发与部署环境。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55000" y="3937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底层系统：Linux Kernel深度适配与性能调优，释放硬件极限算力</a:t>
            </a: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开发工具：一站式SDK与高性能Compiler，加速应用开发与移植</a:t>
            </a: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● 开源社区：主流大模型代码开源开放，赋能开发者快速创新迭代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0" y="6096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软硬协同 · 自主创新 · 构建高性能通用算力新范式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5FF">
                <a:alpha val="100000"/>
              </a:srgbClr>
            </a:gs>
            <a:gs pos="100000">
              <a:srgbClr val="E0E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IP业务全景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5461000" cy="19050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33500" y="1752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CPU IP：Ascalon 高性能计算核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860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面向数据中心与云端场景的旗舰级自研CPU IP，采用先进微架构设计，兼具高IPC与高频率特性。为云计算、超算中心提供坚实算力底座，支撑海量数据并行处理与复杂科学计算任务。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461000" cy="19050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778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048500" y="1752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IP：IOMMU / APLIC 控制中枢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2860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构建系统安全与调度的基石IP，集成内存虚拟化管理（IOMMU）与高级中断控制（APLIC）。实现外设内存的安全隔离与高效地址转换，保障多核心间中断的低延迟分发，为复杂SoC提供稳定、可信的硬件运行环境。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3683000"/>
            <a:ext cx="5461000" cy="1905000"/>
          </a:xfrm>
          <a:prstGeom prst="roundRect">
            <a:avLst>
              <a:gd name="adj" fmla="val 0"/>
            </a:avLst>
          </a:prstGeom>
          <a:solidFill>
            <a:srgbClr val="F5F3FF">
              <a:alpha val="80000"/>
            </a:srgbClr>
          </a:solidFill>
          <a:ln w="12700" cmpd="sng" cap="flat">
            <a:solidFill>
              <a:srgbClr val="7C3AED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3937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3911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1D95"/>
                </a:solidFill>
                <a:latin typeface="Noto Sans SC"/>
                <a:ea typeface="Noto Sans SC"/>
                <a:cs typeface="Noto Sans SC"/>
                <a:sym typeface="Noto Sans SC"/>
              </a:rPr>
              <a:t>AI IP：Tensix 智能推理引擎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4450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专为边缘智能打造的高能效NPU IP，支持CNN、Transformer等主流模型的低功耗部署。以高算力密度与纳秒级响应特性，完美适配自动驾驶感知、智能座舱交互及端侧视觉处理，释放端侧AI的无限潜能。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683000"/>
            <a:ext cx="5461000" cy="1905000"/>
          </a:xfrm>
          <a:prstGeom prst="roundRect">
            <a:avLst>
              <a:gd name="adj" fmla="val 0"/>
            </a:avLst>
          </a:prstGeom>
          <a:solidFill>
            <a:srgbClr val="FFF7ED">
              <a:alpha val="80000"/>
            </a:srgbClr>
          </a:solidFill>
          <a:ln w="12700" cmpd="sng" cap="flat">
            <a:solidFill>
              <a:srgbClr val="EA580C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937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048500" y="3911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互联 IP：Blue Cheetah D2D 高速桥接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44450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通过战略收购整合的顶尖Chiplet互联技术，突破传统总线带宽瓶颈。实现多芯片间的低延迟、高吞吐片间通信，为异构计算架构与Chiplet模块化设计提供关键的互联支撑，助力构建可灵活扩展的先进计算平台。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3906" flipH="false" flipV="false">
            <a:off x="508004" y="5708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508000" y="5842000"/>
            <a:ext cx="3556000" cy="889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" y="59944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041400" y="5969000"/>
            <a:ext cx="298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云端算力基座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0400" y="6324600"/>
            <a:ext cx="323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聚焦数据中心高性能CPU，夯实算力基础设施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318000" y="5842000"/>
            <a:ext cx="35560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470400" y="59944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4851400" y="5969000"/>
            <a:ext cx="298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车规级智能芯核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470400" y="6324600"/>
            <a:ext cx="323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车规级CPU与AI IP融合，赋能智能驾驶全场景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128000" y="5842000"/>
            <a:ext cx="3556000" cy="889000"/>
          </a:xfrm>
          <a:prstGeom prst="roundRect">
            <a:avLst>
              <a:gd name="adj" fmla="val 0"/>
            </a:avLst>
          </a:prstGeom>
          <a:solidFill>
            <a:srgbClr val="EA580C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280400" y="5994400"/>
            <a:ext cx="304800" cy="3048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661400" y="5969000"/>
            <a:ext cx="298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Chiplet 异构生态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280400" y="6324600"/>
            <a:ext cx="323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基于高速互联IP，打造灵活可扩展的Chiplet架构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0" y="-1270000"/>
            <a:ext cx="5080000" cy="5080000"/>
          </a:xfrm>
          <a:prstGeom prst="ellipse">
            <a:avLst/>
          </a:prstGeom>
          <a:solidFill>
            <a:srgbClr val="F97316">
              <a:alpha val="8000"/>
            </a:srgbClr>
          </a:solidFill>
          <a:ln cmpd="sng" cap="flat">
            <a:solidFill>
              <a:srgbClr val="E05C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381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cmpd="sng" cap="flat">
            <a:solidFill>
              <a:srgbClr val="1F67DD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1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产品路线图 Roadmap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270000"/>
            <a:ext cx="1143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 / 2025-2026 · 核心产品线全面落地与场景化覆盖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841500"/>
            <a:ext cx="3632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" y="2032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2032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Ascalon CPU (已GA)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500" y="2413000"/>
            <a:ext cx="325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通用计算基石，已正式量产发布。高性能低功耗架构，为各类终端提供强劲算力引擎。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267200" y="1841500"/>
            <a:ext cx="3632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57700" y="2032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02200" y="2032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Alexandria 汽车CPU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57700" y="2413000"/>
            <a:ext cx="325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专为智能座舱与自动驾驶打造，符合ISO 26262功能安全标准，高可靠性实时计算。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53400" y="1841500"/>
            <a:ext cx="3632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43900" y="2032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88400" y="2032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Tensix Neo Auto AI IP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43900" y="2413000"/>
            <a:ext cx="325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面向L2+至L4级自动驾驶的专用神经网络加速IP，极致能效比，赋能感知与决策。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81000" y="3238500"/>
            <a:ext cx="3632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71500" y="3429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016000" y="3429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Atlantis 异构计算平台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71500" y="3810000"/>
            <a:ext cx="325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集成CPU、GPU与AI加速器的一体化硅平台，支持灵活配置，满足多样化场景需求。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267200" y="3238500"/>
            <a:ext cx="3632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457700" y="3429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4902200" y="3429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Babylon 数据中心CPU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57700" y="3810000"/>
            <a:ext cx="325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Ascalon架构升级版，针对云原生虚拟化与高并发计算优化，吞吐量提升显著。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53400" y="3238500"/>
            <a:ext cx="3632200" cy="12065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 cmpd="sng" cap="flat">
            <a:solidFill>
              <a:srgbClr val="F9731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43900" y="34290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8788400" y="3429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生态与生态系统构建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343900" y="3810000"/>
            <a:ext cx="325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建立开放的软硬件开发生态，提供完善的工具链支持，加速客户产品上市周期。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3819" flipH="false" flipV="false">
            <a:off x="381004" y="46926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381000" y="4826000"/>
            <a:ext cx="1143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 / 2027-2028 · 性能飞跃：Callandor CPU 旗舰登场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81000" y="5334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EA580C">
              <a:alpha val="10000"/>
            </a:srgbClr>
          </a:solidFill>
          <a:ln w="12700" cmpd="sng" cap="flat">
            <a:solidFill>
              <a:srgbClr val="EA580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08000" y="54610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16-Wide Decode 超宽解码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08000" y="5816600"/>
            <a:ext cx="342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突破传统架构限制，大幅提升指令并行度，彻底消除前端解码瓶颈，释放计算潜能。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254500" y="5334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EA580C">
              <a:alpha val="10000"/>
            </a:srgbClr>
          </a:solidFill>
          <a:ln w="12700" cmpd="sng" cap="flat">
            <a:solidFill>
              <a:srgbClr val="EA580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381500" y="54610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35 SPECint2006/GHz 性能基准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4381500" y="5816600"/>
            <a:ext cx="342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行业领先的单线程整数性能，每GHz效能表现卓越，重新定义同频算力天花板。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128000" y="5334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EA580C">
              <a:alpha val="10000"/>
            </a:srgbClr>
          </a:solidFill>
          <a:ln w="12700" cmpd="sng" cap="flat">
            <a:solidFill>
              <a:srgbClr val="EA580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255000" y="54610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3x IPC (vs Cortex-A76)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255000" y="5816600"/>
            <a:ext cx="342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深度微架构优化，实现每周期指令吞吐量(IPC)三倍提升，兼顾高性能与低功耗。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381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Ascalon — 数据中心RISC-V核心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397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06500" y="1625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高度可配置的RISC-V IP核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06500" y="2032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支持2/4/6/8-wide多种超标量配置，灵活适配从边缘网关到云端超算的差异化需求，实现算力与能效的按需定制。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31115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365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06500" y="3340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RVA23规范与原生向量加速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06500" y="37465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严格遵循RISC-V RVA23数据中心应用级规范，集成RVV1.0 256-bit高性能向量单元，为AI推理、科学计算与大数据分析提供硬件级加速。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1000" y="4826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5080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206500" y="5054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对标旗舰的微架构设计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06500" y="5461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搭载双TAGE分支预测器保障高命中率，配备8-wide解码器与6个ALU执行单元，架构宽度媲美Apple M1，最大化指令级并行度。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69000" y="1397000"/>
            <a:ext cx="29845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60A5F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159500" y="15875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TT-Ascalon-S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59500" y="2032000"/>
            <a:ext cx="2730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主流效能 · 云原生计算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6769" flipH="false" flipV="false">
            <a:off x="6159515" y="2406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159500" y="2540000"/>
            <a:ext cx="273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4-wide 超标量乱序执行架构，专为轻量级虚拟化、边缘云节点及通用网络服务设计，以极致能效比为核心优势。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80500" y="1397000"/>
            <a:ext cx="29845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EC489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271000" y="15875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TT-Ascalon-X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271000" y="2032000"/>
            <a:ext cx="2730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旗舰性能 · 高吞吐负载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16769" flipH="false" flipV="false">
            <a:off x="9271015" y="2406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9271000" y="2540000"/>
            <a:ext cx="273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8-wide 超标量乱序执行架构，配备增强型缓存子系统，面向大数据分析、AI训练及高性能计算（HPC）等重负载场景。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969000" y="3937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159500" y="41275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6540500" y="4127500"/>
            <a:ext cx="2349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精准分支预测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59500" y="4508500"/>
            <a:ext cx="266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双TAGE预测器设计，有效降低控制流错误预测，提升流水线效率。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080500" y="3937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71000" y="4127500"/>
            <a:ext cx="304800" cy="304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9652000" y="4127500"/>
            <a:ext cx="2349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宽发射解码单元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271000" y="4508500"/>
            <a:ext cx="266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8-wide并行解码与重命名，消除指令供给瓶颈，挖掘ILP指令级并行。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969000" y="5207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159500" y="5397500"/>
            <a:ext cx="304800" cy="3048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6540500" y="5397500"/>
            <a:ext cx="2349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丰富执行资源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159500" y="5778500"/>
            <a:ext cx="266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集成6个ALU、专用乘除单元及访存流水线，多任务并发无阻塞。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080500" y="5207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9271000" y="5397500"/>
            <a:ext cx="304800" cy="3048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9652000" y="5397500"/>
            <a:ext cx="2349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完整生态兼容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271000" y="5778500"/>
            <a:ext cx="266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支持Linux生态与主流虚拟化技术，无缝迁移现有数据中心应用负载。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性能对标分析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08000" y="1460500"/>
            <a:ext cx="11176000" cy="2540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508000" y="4254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EFF6FF">
              <a:alpha val="5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98500" y="44450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444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Ascalon-S：能效均衡的通用算力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4851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SPECint2006/GHz 达 14 分，性能水平对标 Arm Neoverse N1。凭借卓越的每瓦性能比，成为边缘计算、智能网关及轻量级云服务器的理想选择，完美平衡算力与功耗。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4254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EFF6FF">
              <a:alpha val="5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44450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444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Ascalon-X：面向未来的旗舰算力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985000" y="4851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SPECint2006/GHz 突破 21 分，性能逼近 Arm Neoverse V3 旗舰架构。专为高密度数据中心、AI 推理及高性能计算（HPC）场景深度优化，提供极致的单线程性能与架构效率。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" y="59055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" y="59944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注：Per GHz 性能主要反映处理器的架构效率（IPC），实际系统性能还需结合运行主频、缓存层级、内存带宽及具体应用负载综合评估。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0" y="-1270000"/>
            <a:ext cx="5080000" cy="508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3810000"/>
            <a:ext cx="3810000" cy="381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Alexandria — 车规级处理器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6510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定义智能移动的算力新标杆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4130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作为Tenstorrent进军汽车电子领域的战略旗舰，Alexandria 打破了汽车与机器人的算力边界。我们将机器人视为“紧凑型智能移动体”，为其赋予与智能汽车同级的高可靠算力，成为连接L2+至L4级自动驾驶、自主机器人控制与边缘计算的核心枢纽。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4445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12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" y="4572000"/>
            <a:ext cx="5080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🚀 战略跨越：从AI芯片到车规级算力基座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BD5E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它不仅是一款处理器，更是重新定义边缘智能计算标准的关键一步，为智能出行与无人系统筑牢算力根基。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1854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413500" y="1905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350000" y="2540000"/>
            <a:ext cx="1600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8核 Ascalon X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3175000"/>
            <a:ext cx="16002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基于高性能Ascalon X架构构建，8核异构计算设计完美平衡算力密度与能效比，满足车载环境下实时控制与AI推理的双重需求。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04200" y="1651000"/>
            <a:ext cx="1854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94700" y="1905000"/>
            <a:ext cx="457200" cy="457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31200" y="2540000"/>
            <a:ext cx="1600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ASIL B/D 认证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31200" y="3175000"/>
            <a:ext cx="16002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完全符合ISO 26262功能安全标准，达到车规级高安全等级，从硬件底层保障系统运行的容错性与可靠性，杜绝单点故障。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85400" y="1651000"/>
            <a:ext cx="1854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375900" y="19050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0312400" y="2540000"/>
            <a:ext cx="1600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双核锁步机制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312400" y="3175000"/>
            <a:ext cx="16002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内置Dual Core Lock Step冗余设计，实时监控核心运算一致性，自动检测并纠正故障，是自动驾驶安全运行的最后一道防线。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5778500"/>
            <a:ext cx="11176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" y="58674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DD3FC"/>
                </a:solidFill>
                <a:latin typeface="Noto Sans SC"/>
                <a:ea typeface="Noto Sans SC"/>
                <a:cs typeface="Noto Sans SC"/>
                <a:sym typeface="Noto Sans SC"/>
              </a:rPr>
              <a:t>“以极致可靠的硬件架构，驱动智能出行与自主机器人的无限未来”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0" y="-1270000"/>
            <a:ext cx="5080000" cy="5080000"/>
          </a:xfrm>
          <a:prstGeom prst="ellipse">
            <a:avLst/>
          </a:prstGeom>
          <a:solidFill>
            <a:srgbClr val="36CFC9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3810000"/>
            <a:ext cx="3810000" cy="3810000"/>
          </a:xfrm>
          <a:prstGeom prst="ellipse">
            <a:avLst/>
          </a:prstGeom>
          <a:solidFill>
            <a:srgbClr val="165D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Atlantis — 开放计算平台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778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36CFC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032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2057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填补RISC-V生态空白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67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针对RISC-V阵营长期缺乏高性能开发平台的痛点，Atlantis对标Arm SDP标准打造，补齐了高端算力开发的工具与架构短板，为开发者提供标准化、可扩展的底层算力底座。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1778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36CFC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03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080000" y="2057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2025年9月重磅官宣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2667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由AI算力先锋Tenstorrent与半导体新锐CoreLab联合开发，汇聚前沿架构设计与制造工艺优势。这一跨界协同不仅是技术的融合，更是重新定义开放计算性能上限的战略布局。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36CFC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2057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聚焦边缘智能与自动驾驶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2667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专为机器人自主控制、智能汽车边缘计算打造的开放架构。支持异构计算与低延迟实时处理，能够满足端侧AI对高算力、高可靠性的严苛需求，释放场景创新潜能。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4826000"/>
            <a:ext cx="5461000" cy="1524000"/>
          </a:xfrm>
          <a:prstGeom prst="roundRect">
            <a:avLst>
              <a:gd name="adj" fmla="val 0"/>
            </a:avLst>
          </a:prstGeom>
          <a:solidFill>
            <a:srgbClr val="1E3A8A">
              <a:alpha val="15000"/>
            </a:srgbClr>
          </a:solidFill>
          <a:ln w="12700" cmpd="sng" cap="flat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0546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193800" y="50292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行业领军者掌舵：Allen Wu (吴雄昂)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524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BD5E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CoreLab董事长，前Arm中国CEO，深耕半导体行业三十年。凭借深厚的产业资源与全球化视野，为Atlantis平台的商业化落地、生态构建及技术演进注入核心领导力与战略定力。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4826000"/>
            <a:ext cx="5461000" cy="1524000"/>
          </a:xfrm>
          <a:prstGeom prst="roundRect">
            <a:avLst>
              <a:gd name="adj" fmla="val 0"/>
            </a:avLst>
          </a:prstGeom>
          <a:solidFill>
            <a:srgbClr val="1E3A8A">
              <a:alpha val="15000"/>
            </a:srgbClr>
          </a:solidFill>
          <a:ln w="12700" cmpd="sng" cap="flat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77000" y="50546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908800" y="50292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开放生态，重塑算力格局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5524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BD5E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打破传统算力平台的封闭壁垒，构建RISC-V架构下的开源开放生态体系。连接芯片设计、算法开发与应用场景，推动软硬件协同创新，为万亿级智能终端市场提供灵活高效的算力解决方案。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3810000"/>
            <a:ext cx="3810000" cy="3810000"/>
          </a:xfrm>
          <a:prstGeom prst="ellipse">
            <a:avLst/>
          </a:prstGeom>
          <a:solidFill>
            <a:srgbClr val="A855F7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Callandor — 下一代超大核心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1625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极致核心规格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814" flipH="false" flipV="false">
            <a:off x="762008" y="21526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22860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16-wide 超宽解码宽度，吞吐能力跃升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8个高性能ALU与1KB ROB窗口，挖掘极致并行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6-wide LD/ST 存取带宽，数据交互零延迟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集成专用 Matrix Engine，原生加速AI向量计算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3970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A855F7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651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1625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前沿架构革新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814" flipH="false" flipV="false">
            <a:off x="6477008" y="21526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22860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新增专用 uop Cache，大幅降低前端取指延迟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创新 Cluster 簇状结构：双路 6×ALU Cluster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模块化执行单元布局，减少流水线气泡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动态资源调度机制，最大化利用硬件资源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40005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254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70000" y="4229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卓越设计收益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8814" flipH="false" flipV="false">
            <a:off x="762008" y="47561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48895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简化 Register File 设计复杂度，降低功耗与面积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簇状结构缩短信号路径，突破高频设计瓶颈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资源分区减少端口竞争，提升执行效率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模块化架构提升芯片良率，降低制造成本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0005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FBBF2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254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4229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性能巅峰目标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814" flipH="false" flipV="false">
            <a:off x="6477008" y="47561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477000" y="48895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单线程性能突破：</a:t>
            </a:r>
            <a:r>
              <a:rPr lang="en-US" b="true" i="false" strike="noStrike" u="none" sz="14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35 SPECint2006/GHz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IPC 相比上代提升超 25%，重新定义性能上限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能效比优化，高性能模式下功耗表现优异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为未来HPC与通用计算奠定坚实算力基础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A855F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Blackhole — AI加速芯片架构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2667000" cy="22860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714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79500" y="16764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01. Tensix Cores (T)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" y="2159000"/>
            <a:ext cx="2349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AI计算的绝对核心，搭载高密度张量运算单元。针对Transformer架构的矩阵乘加(GEMM)深度优化，提供海量TOPS算力，是支撑大模型实时推理与训练的性能基石。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340100" y="1524000"/>
            <a:ext cx="2667000" cy="2286000"/>
          </a:xfrm>
          <a:prstGeom prst="roundRect">
            <a:avLst>
              <a:gd name="adj" fmla="val 0"/>
            </a:avLst>
          </a:prstGeom>
          <a:solidFill>
            <a:srgbClr val="06B6D4">
              <a:alpha val="15000"/>
            </a:srgbClr>
          </a:solidFill>
          <a:ln w="12700" cmpd="sng" cap="flat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30600" y="1714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911600" y="16764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EEAD4"/>
                </a:solidFill>
                <a:latin typeface="Noto Sans SC"/>
                <a:ea typeface="Noto Sans SC"/>
                <a:cs typeface="Noto Sans SC"/>
                <a:sym typeface="Noto Sans SC"/>
              </a:rPr>
              <a:t>02. DRAM Cores (D)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30600" y="2159000"/>
            <a:ext cx="2349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定制化GDDR6控制器阵列，突破内存带宽瓶颈。提供TB级聚合带宽与ECC校验，确保数据吞吐与计算单元无缝衔接，彻底消除“显存墙”带来的算力空转。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72200" y="1524000"/>
            <a:ext cx="2667000" cy="2286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62700" y="1714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43700" y="16764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9A7FB"/>
                </a:solidFill>
                <a:latin typeface="Noto Sans SC"/>
                <a:ea typeface="Noto Sans SC"/>
                <a:cs typeface="Noto Sans SC"/>
                <a:sym typeface="Noto Sans SC"/>
              </a:rPr>
              <a:t>03. ETH Cores (E)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62700" y="2159000"/>
            <a:ext cx="2349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高并发网络互联引擎，集成高速SerDes与以太网MAC。支持多芯片间微秒级低延迟直连，轻松构建千卡级分布式AI超算集群，打破单卡算力边界。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004300" y="1524000"/>
            <a:ext cx="2667000" cy="22860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94800" y="1714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575800" y="16764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ECACA"/>
                </a:solidFill>
                <a:latin typeface="Noto Sans SC"/>
                <a:ea typeface="Noto Sans SC"/>
                <a:cs typeface="Noto Sans SC"/>
                <a:sym typeface="Noto Sans SC"/>
              </a:rPr>
              <a:t>04. RISC-V 异构主控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94800" y="2159000"/>
            <a:ext cx="2349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集成16核SiFive X280高性能处理器 + 752个Baby RISC-V协处理器，总计768个RISC-V核心。实现极致的任务调度、能效管理与IO控制效率。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4064000"/>
            <a:ext cx="5524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98500" y="4254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206500" y="425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2D Mesh 片上无阻塞网络 (NoC)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8500" y="4762500"/>
            <a:ext cx="5143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采用全连接2D Mesh拓扑作为通信骨干，替代传统交叉开关。支持自适应路由算法，实现各模块间&lt;10ns的超低延迟通信，确保算力资源被最大化利用，避免数据传输成为性能瓶颈。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59500" y="4064000"/>
            <a:ext cx="5524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350000" y="42545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858000" y="425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GDDR6 极致性价比存储方案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0" y="4762500"/>
            <a:ext cx="5143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摒弃昂贵的HBM方案，精选高带宽GDDR6显存。在满足AI计算TB级带宽需求的同时，大幅降低芯片制造成本，实现行业领先的Token/$性价比，让大模型部署更具成本优势。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08000" y="6032500"/>
            <a:ext cx="11176000" cy="571500"/>
          </a:xfrm>
          <a:prstGeom prst="roundRect">
            <a:avLst>
              <a:gd name="adj" fmla="val 0"/>
            </a:avLst>
          </a:prstGeom>
          <a:solidFill>
            <a:srgbClr val="475569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5000" y="61214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5B4FC"/>
                </a:solidFill>
                <a:latin typeface="Noto Sans SC"/>
                <a:ea typeface="Noto Sans SC"/>
                <a:cs typeface="Noto Sans SC"/>
                <a:sym typeface="Noto Sans SC"/>
              </a:rPr>
              <a:t>IO 接口：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配备 PCIe 4.0/5.0 x16 高速通道，支持 CXL 协议，无缝兼容主流 x86/ARM 服务器生态，提供即插即用的弹性算力扩展。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381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数据流与计算范式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397000"/>
            <a:ext cx="215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" y="1587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16129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数据加载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2095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从GDDR搬运至DRAM Cores L1 Memory，由专用小RISC-V内核独立控制，保障高带宽数据供给。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05100" y="1397000"/>
            <a:ext cx="215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895600" y="1587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340100" y="16129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02 缓存分发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832100" y="2095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数据流转至Tensix Cores L1 SRAM，通过第二级RISC-V协同调度，实现极低延迟的片内写入。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29200" y="1397000"/>
            <a:ext cx="215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219700" y="1587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664200" y="16129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03 矩阵运算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156200" y="2095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中间3个RISC-V内核驱动AI计算引擎，原生支持矩阵乘加(MMA)，算力高密度并行释放。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53300" y="1397000"/>
            <a:ext cx="215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543800" y="1587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988300" y="16129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04 结果路由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80300" y="2095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专用RISC-V主控将计算结果通过片上网络(NoC)高效聚合与分发，消除总线拥塞。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677400" y="1397000"/>
            <a:ext cx="215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867900" y="15875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0312400" y="16129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05 网络收发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804400" y="2095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ETH Core独立负责网络数据吞吐，打通端侧计算与云端控制的高速双向通路。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81000" y="4064000"/>
            <a:ext cx="56515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71500" y="42545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Blackhole 架构核心范式 (MIMD)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71500" y="4699000"/>
            <a:ext cx="5270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本地直算：</a:t>
            </a:r>
            <a: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基于L1 SRAM就近计算，彻底消除Cache一致性开销与访存瓶颈。</a:t>
            </a:r>
            <a: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延迟确定：</a:t>
            </a:r>
            <a: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无Cache预取与投机执行，计算时延可预测，适配实时系统。</a:t>
            </a:r>
            <a: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全可编程：</a:t>
            </a:r>
            <a:r>
              <a:rPr lang="en-US" b="false" i="false" strike="noStrike" u="none" sz="1300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RISC-V贯穿数据搬移与控制，灵活适配多样化AI算子与数据流。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159500" y="4064000"/>
            <a:ext cx="5651500" cy="2222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mpd="sng" cap="flat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50000" y="42545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GPU 架构局限 (SIMT)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50000" y="4699000"/>
            <a:ext cx="5270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存储墙：</a:t>
            </a:r>
            <a: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依赖HBM高带宽掩盖延迟，成本高昂且能效比受限。</a:t>
            </a:r>
            <a: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控制单一：</a:t>
            </a:r>
            <a: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SIMT单指令流限制，分支场景下线程束效率严重下降。</a:t>
            </a:r>
            <a: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流控固化：</a:t>
            </a:r>
            <a:r>
              <a:rPr lang="en-US" b="false" i="false" strike="noStrike" u="none" sz="1300">
                <a:solidFill>
                  <a:srgbClr val="FEF3C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硬件流控难以适配长尾AI模型，灵活性不足。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总结：能否成为RISC-V领域的Arm？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5461000" cy="34290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526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714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核心竞争优势：对标Arm的潜力基因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860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25500" y="23876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01 成熟的IP授权模式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复刻Arm商业模式，构建从通用核到专用核的完整IP矩阵，覆盖云端到边缘端全场景。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65500" y="22860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29000" y="23876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02 旗舰级CPU性能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Ascalon-X核心IPC与能效比接近Arm Neoverse V3，具备冲击全球顶尖算力的硬实力。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6195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" y="37211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03 精准卡位蓝海赛道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聚焦智能汽车、人形机器人等高增长领域，避开与巨头的正面竞争，形成差异化壁垒。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65500" y="36195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29000" y="37211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04 全栈技术协同壁垒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打通CPU、AI加速、Chiplet及系统IP，构建“算力+互联”的一体化解决方案。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1524000"/>
            <a:ext cx="5461000" cy="34290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12700" cmpd="sng" cap="flat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7526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1714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发展挑战：破局需跨越的门槛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2286000"/>
            <a:ext cx="4953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23876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01 软件生态生态的成熟周期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RISC-V的操作系统适配、开发工具链及商业软件迁移仍需时间，生态壁垒短期内难以完全逾越。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3175000"/>
            <a:ext cx="4953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32766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02 AI架构的通用性与创新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现有方案偏向专用优化，需探索类GPU的通用并行计算架构，以适配多样化的AI模型需求。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064000"/>
            <a:ext cx="4953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04000" y="41656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03 片间互联的性能瓶颈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以太网互联方案在高带宽、低时延场景下存在局限，需突破更高效的互联技术以支撑集群扩展。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08000" y="5207000"/>
            <a:ext cx="11176000" cy="1270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E3A8A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5486400"/>
            <a:ext cx="457200" cy="457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397000" y="5397500"/>
            <a:ext cx="990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展望：有望成为RISC-V时代的“新Arm”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经过2-3轮产品迭代与生态积淀，叠加RISC-V在亚洲市场的政策红利与产业化加速，Tenstorrent凭借差异化的全栈技术路线和精准的赛道卡位，具备打破传统算力巨头垄断的潜力，有望成长为定义下一代算力标准的领军企业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293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3810000" cy="3810000"/>
          </a:xfrm>
          <a:prstGeom prst="ellipse">
            <a:avLst/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652000" y="4318000"/>
            <a:ext cx="5080000" cy="5080000"/>
          </a:xfrm>
          <a:prstGeom prst="ellipse">
            <a:avLst/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159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0" y="3746500"/>
            <a:ext cx="4572000" cy="381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19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参考资料来源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953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53086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714500" y="5143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Tenstorrent 官方网站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4953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53086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5143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Hot Chips 2024 技术峰会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874000" y="4953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28000" y="53086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572500" y="5143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CoreLab 官方技术公告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{"Label":"1","ContentProducer":"001191110102MACQD9K64010000","ProduceID":"7664163980852661208","ReservedCode1":"","ContentPropagator":"","PropagateID":"","ReservedCode2":""}</vt:lpwstr>
  </property>
</Properties>
</file>